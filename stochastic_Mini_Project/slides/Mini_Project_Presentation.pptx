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a campus must commit its grid purchases a day ahead without knowing weather or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Asymmetric costs: shortfall at 1.6x price, surplus sold at Rs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first-stage vs recourse and relatively complete recourse.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VSS = EEV - RP, EVPI = RP - WS, estimated on 500 unseen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an imbalance penalty VSS and EVPI are both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Optimization of a Campus Solar + Battery Microgrid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Two-stage stochastic programming, CVaR risk control, VSS and EVPI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21AIE321T Stochastic Decision Making · Mini Project (Assignment IV)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[Your name] · [Register No.] · SRMIST Tiruchirappalli · SDG 9 (Target 9.5)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tomorrow's power purchase today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Campus: 800 kWp solar, 1 MWh battery, ~0.7 MW peak load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Day-ahead hourly purchase must be fixed before weather and load are known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Shortfall costs 1.6× day-ahead price; surplus sells at ₹3/kWh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Asymmetric costs → plan for averages is not optimal</a:t>
            </a:r>
            <a:endParaRPr lang="en-US" sz="1600" dirty="0"/>
          </a:p>
        </p:txBody>
      </p:sp>
      <p:pic>
        <p:nvPicPr>
          <p:cNvPr id="5" name="two-stage structure diagram" descr="two-stage stru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4021"/>
            <a:ext cx="4206240" cy="128971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All scenario data are synthetic, generated from stated assumptions.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two-stage stochastic linear program</a:t>
            </a:r>
            <a:endParaRPr lang="en-US" sz="2800" dirty="0"/>
          </a:p>
        </p:txBody>
      </p:sp>
      <p:sp>
        <p:nvSpPr>
          <p:cNvPr id="4" name="card Stage 1 (here-and-now)"/>
          <p:cNvSpPr/>
          <p:nvPr/>
        </p:nvSpPr>
        <p:spPr>
          <a:xfrm>
            <a:off x="45720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(here-and-now)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Day-ahead purchase x_t, t = 1…24, same for every scenario</a:t>
            </a:r>
            <a:endParaRPr lang="en-US" sz="1400" dirty="0"/>
          </a:p>
        </p:txBody>
      </p:sp>
      <p:sp>
        <p:nvSpPr>
          <p:cNvPr id="7" name="card Stage 2 (recourse)"/>
          <p:cNvSpPr/>
          <p:nvPr/>
        </p:nvSpPr>
        <p:spPr>
          <a:xfrm>
            <a:off x="324612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8328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(recourse)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scenario: battery charge / discharge / SoC, real-time buy g_t, export e_t</a:t>
            </a:r>
            <a:endParaRPr lang="en-US" sz="1400" dirty="0"/>
          </a:p>
        </p:txBody>
      </p:sp>
      <p:sp>
        <p:nvSpPr>
          <p:cNvPr id="10" name="card Objective"/>
          <p:cNvSpPr/>
          <p:nvPr/>
        </p:nvSpPr>
        <p:spPr>
          <a:xfrm>
            <a:off x="6035040" y="1188720"/>
            <a:ext cx="26060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Day-ahead cost + average of real-time cost − export revenue + battery wear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Constraints: hourly energy balance, battery dynamics (η = 0.92), SoC limits, power limit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Solved as one LP by sample-average approximation: N = 200 scenarios, 24,024 variables, ~1 s (HiGHS)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Scenarios: bimodal solar, variable demand</a:t>
            </a:r>
            <a:endParaRPr lang="en-US" sz="2800" dirty="0"/>
          </a:p>
        </p:txBody>
      </p:sp>
      <p:pic>
        <p:nvPicPr>
          <p:cNvPr id="3" name="solar and demand scenario bands" descr="solar and demand scenario b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0523"/>
            <a:ext cx="5394960" cy="1890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1887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Weather: clear 35%, partly 40%, overcast 25%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Demand: holiday days at 0.72× 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Solar ≈ 31% of demand on average, sd 1.35 MWh/day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Training N = 200; independent test set of 500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value of modelling uncertainty</a:t>
            </a:r>
            <a:endParaRPr lang="en-US" sz="2800" dirty="0"/>
          </a:p>
        </p:txBody>
      </p:sp>
      <p:sp>
        <p:nvSpPr>
          <p:cNvPr id="4" name="card VSS vs deterministic plan (95% CI 255-389)"/>
          <p:cNvSpPr/>
          <p:nvPr/>
        </p:nvSpPr>
        <p:spPr>
          <a:xfrm>
            <a:off x="457200" y="1097280"/>
            <a:ext cx="3840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₹322/day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VSS vs deterministic plan (95% CI 255-389)</a:t>
            </a:r>
            <a:endParaRPr lang="en-US" sz="1400" dirty="0"/>
          </a:p>
        </p:txBody>
      </p:sp>
      <p:sp>
        <p:nvSpPr>
          <p:cNvPr id="7" name="card EVPI: 11.3% of cost, upper bound for forecasting"/>
          <p:cNvSpPr/>
          <p:nvPr/>
        </p:nvSpPr>
        <p:spPr>
          <a:xfrm>
            <a:off x="457200" y="2194560"/>
            <a:ext cx="3840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2240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₹6,405/day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EVPI: 11.3% of cost, upper bound for forecasting</a:t>
            </a:r>
            <a:endParaRPr lang="en-US" sz="1400" dirty="0"/>
          </a:p>
        </p:txBody>
      </p:sp>
      <p:sp>
        <p:nvSpPr>
          <p:cNvPr id="10" name="card saved vs rule-of-thumb plan"/>
          <p:cNvSpPr/>
          <p:nvPr/>
        </p:nvSpPr>
        <p:spPr>
          <a:xfrm>
            <a:off x="457200" y="3291840"/>
            <a:ext cx="3840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₹1,034/day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vs rule-of-thumb plan</a:t>
            </a:r>
            <a:endParaRPr lang="en-US" sz="1400" dirty="0"/>
          </a:p>
        </p:txBody>
      </p:sp>
      <p:pic>
        <p:nvPicPr>
          <p:cNvPr id="13" name="cost distribution curves" descr="cost distribution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38940"/>
            <a:ext cx="4206240" cy="22085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hedges; the battery adapts</a:t>
            </a:r>
            <a:endParaRPr lang="en-US" sz="2800" dirty="0"/>
          </a:p>
        </p:txBody>
      </p:sp>
      <p:pic>
        <p:nvPicPr>
          <p:cNvPr id="3" name="recourse schedules on three days" descr="recourse schedules on three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575" y="1005840"/>
            <a:ext cx="528565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28016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Overcast: pre-charge at night, heavy real-time buying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Clear: export surplus, carry solar into evening peak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commits more at 17:00-20:00 than the deterministic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Robustness: 30 repeats, SAA convergence, risk</a:t>
            </a:r>
            <a:endParaRPr lang="en-US" sz="2800" dirty="0"/>
          </a:p>
        </p:txBody>
      </p:sp>
      <p:pic>
        <p:nvPicPr>
          <p:cNvPr id="3" name="Monte Carlo repeats" descr="Monte Carlo repea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37230"/>
            <a:ext cx="4572000" cy="1566019"/>
          </a:xfrm>
          <a:prstGeom prst="rect">
            <a:avLst/>
          </a:prstGeom>
        </p:spPr>
      </p:pic>
      <p:pic>
        <p:nvPicPr>
          <p:cNvPr id="4" name="SAA convergence" descr="SAA converg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71" y="1005840"/>
            <a:ext cx="3536778" cy="1828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VSS positive in 100% of 30 repeats (mean ₹384/day)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stable from N ≈ 50-100 scenarios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Mean-CVaR λ = 0.25: CVaR₉₀ −6.1% for +1.7% mean cost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Sensitivity: price asymmetry drives the value</a:t>
            </a:r>
            <a:endParaRPr lang="en-US" sz="2800" dirty="0"/>
          </a:p>
        </p:txBody>
      </p:sp>
      <p:pic>
        <p:nvPicPr>
          <p:cNvPr id="4" name="sensitivity panels" descr="sensitivity pan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9730"/>
            <a:ext cx="5303520" cy="263838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852160" y="128016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κ = 1.0 → VSS = EVPI =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κ = 2.5 → VSS ₹3,553/day (5.6%)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Battery: 1 MWh worth ≈ ₹2,273/day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Wrong weather model can cost more than VSS gains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recommendation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Stochastic plan beats naive (₹1,034/day) and deterministic (₹322/day) plans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Benefit grows with the real-time price penalty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Perfect information worth up to ₹6,405/day: invest in forecasting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risk-neutral plan or small CVaR weight (λ ≈ 0.25)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Next: calibrate on metered data; multistage re-optimisation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Limitations: synthetic data; day-ahead stage only; linear battery wear.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 Grid">
  <a:themeElements>
    <a:clrScheme name="Solar Grid">
      <a:dk1>
        <a:srgbClr val="1A1A1A"/>
      </a:dk1>
      <a:lt1>
        <a:srgbClr val="FFFFFF"/>
      </a:lt1>
      <a:dk2>
        <a:srgbClr val="0F2A43"/>
      </a:dk2>
      <a:lt2>
        <a:srgbClr val="EEF3F7"/>
      </a:lt2>
      <a:accent1>
        <a:srgbClr val="F2A900"/>
      </a:accent1>
      <a:accent2>
        <a:srgbClr val="1B998B"/>
      </a:accent2>
      <a:accent3>
        <a:srgbClr val="2A78D6"/>
      </a:accent3>
      <a:accent4>
        <a:srgbClr val="EB6834"/>
      </a:accent4>
      <a:accent5>
        <a:srgbClr val="52514E"/>
      </a:accent5>
      <a:accent6>
        <a:srgbClr val="898781"/>
      </a:accent6>
      <a:hlink>
        <a:srgbClr val="2A78D6"/>
      </a:hlink>
      <a:folHlink>
        <a:srgbClr val="6250D6"/>
      </a:folHlink>
    </a:clrScheme>
    <a:fontScheme name="Solar Gr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Optimization of a Campus Solar + Battery Microgrid</dc:title>
  <dc:subject>PptxGenJS Presentation</dc:subject>
  <dc:creator>PptxGenJS</dc:creator>
  <cp:lastModifiedBy>PptxGenJS</cp:lastModifiedBy>
  <cp:revision>1</cp:revision>
  <dcterms:created xsi:type="dcterms:W3CDTF">2026-10-29T10:55:02Z</dcterms:created>
  <dcterms:modified xsi:type="dcterms:W3CDTF">2026-10-29T10:55:02Z</dcterms:modified>
</cp:coreProperties>
</file>